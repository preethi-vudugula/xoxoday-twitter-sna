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83" r:id="rId10"/>
    <p:sldId id="284" r:id="rId11"/>
    <p:sldId id="285" r:id="rId12"/>
    <p:sldId id="28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120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Xoxoday Social Media Analytics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Social Network Analysis (SNA) for Customer Acquisition &amp; Engagement</a:t>
            </a:r>
          </a:p>
          <a:p>
            <a:r>
              <a:t>BANL 6900 | University of New Haven | December 2025</a:t>
            </a:r>
          </a:p>
          <a:p>
            <a:r>
              <a:t>Prepared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How can </a:t>
            </a:r>
            <a:r>
              <a:rPr dirty="0" err="1"/>
              <a:t>Xoxoday</a:t>
            </a:r>
            <a:r>
              <a:rPr dirty="0"/>
              <a:t> leverage Social Network Analysis (SNA) to:</a:t>
            </a:r>
          </a:p>
          <a:p>
            <a:r>
              <a:rPr dirty="0"/>
              <a:t>1. Identify key influencers amplifying brand content?</a:t>
            </a:r>
          </a:p>
          <a:p>
            <a:r>
              <a:rPr dirty="0"/>
              <a:t>2. Detect communities and engagement clusters?</a:t>
            </a:r>
          </a:p>
          <a:p>
            <a:r>
              <a:rPr dirty="0"/>
              <a:t>3. Optimize content, posting schedules &amp; partnerships to boost reach and conversions?</a:t>
            </a:r>
          </a:p>
          <a:p>
            <a:endParaRPr dirty="0"/>
          </a:p>
          <a:p>
            <a:r>
              <a:rPr dirty="0"/>
              <a:t>Goal: Improve engagement and customer acquisition using data-driven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Problem 1: Low Organic Reach – Xoxoday tweets do not spread widely.</a:t>
            </a:r>
          </a:p>
          <a:p>
            <a:r>
              <a:t>Problem 2: Weak Influencer Engagement – Key amplifiers not being targeted.</a:t>
            </a:r>
          </a:p>
          <a:p>
            <a:r>
              <a:t>Problem 3: Limited Community Penetration – Engagement clusters not activated.</a:t>
            </a:r>
          </a:p>
          <a:p>
            <a:endParaRPr/>
          </a:p>
          <a:p>
            <a:r>
              <a:t>Outcome: Brand messaging limited to small circles of repeat users &amp; partners.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Dataset: W19310-XLS-ENG.xlsx</a:t>
            </a:r>
          </a:p>
          <a:p>
            <a:endParaRPr dirty="0"/>
          </a:p>
          <a:p>
            <a:r>
              <a:rPr dirty="0"/>
              <a:t>• Tweets Data (</a:t>
            </a:r>
            <a:r>
              <a:rPr dirty="0" err="1"/>
              <a:t>Xoxoday</a:t>
            </a:r>
            <a:r>
              <a:rPr dirty="0"/>
              <a:t> posts)</a:t>
            </a:r>
          </a:p>
          <a:p>
            <a:r>
              <a:rPr dirty="0"/>
              <a:t>• Retweets Data (interaction edges)</a:t>
            </a:r>
          </a:p>
          <a:p>
            <a:r>
              <a:rPr dirty="0"/>
              <a:t>• User Info Data (vertex-level attributes)</a:t>
            </a:r>
          </a:p>
          <a:p>
            <a:endParaRPr dirty="0"/>
          </a:p>
          <a:p>
            <a:r>
              <a:rPr dirty="0"/>
              <a:t>Time Range: January 17–30, 2017</a:t>
            </a:r>
          </a:p>
          <a:p>
            <a:r>
              <a:rPr dirty="0"/>
              <a:t>Methods Used: R, Python, </a:t>
            </a:r>
            <a:r>
              <a:rPr dirty="0" err="1"/>
              <a:t>NodeXL</a:t>
            </a:r>
            <a:r>
              <a:rPr dirty="0"/>
              <a:t>, SNA Metrics</a:t>
            </a:r>
          </a:p>
          <a:p>
            <a:r>
              <a:rPr dirty="0"/>
              <a:t>Final Graph: Directed retweet/reply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</a:t>
            </a:r>
            <a:r>
              <a:rPr lang="en-US" dirty="0"/>
              <a:t>s used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A) Graph Construction:</a:t>
            </a:r>
          </a:p>
          <a:p>
            <a:r>
              <a:rPr dirty="0"/>
              <a:t>• Builds a directed graph representing retweets and replies.</a:t>
            </a:r>
          </a:p>
          <a:p>
            <a:r>
              <a:rPr dirty="0"/>
              <a:t>• Captures information flow between users.</a:t>
            </a:r>
          </a:p>
          <a:p>
            <a:endParaRPr dirty="0"/>
          </a:p>
          <a:p>
            <a:r>
              <a:rPr dirty="0"/>
              <a:t>B) Cluster Analysis:</a:t>
            </a:r>
          </a:p>
          <a:p>
            <a:r>
              <a:rPr dirty="0"/>
              <a:t>• Uses modularity-based community detection.</a:t>
            </a:r>
          </a:p>
          <a:p>
            <a:r>
              <a:rPr dirty="0"/>
              <a:t>• Identifies natural engagement clusters.</a:t>
            </a:r>
          </a:p>
          <a:p>
            <a:endParaRPr dirty="0"/>
          </a:p>
          <a:p>
            <a:r>
              <a:rPr dirty="0"/>
              <a:t>C) Outcome:</a:t>
            </a:r>
          </a:p>
          <a:p>
            <a:r>
              <a:rPr dirty="0"/>
              <a:t>• Reveals influencers, content drivers, engagement paths.</a:t>
            </a:r>
          </a:p>
          <a:p>
            <a:r>
              <a:rPr dirty="0"/>
              <a:t>• Supports improvements: influencer partnerships, posting schedule optimization, content enhancement.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• Engagement centered around a small cluster of loyal users.</a:t>
            </a:r>
          </a:p>
          <a:p>
            <a:r>
              <a:rPr dirty="0"/>
              <a:t>• </a:t>
            </a:r>
            <a:r>
              <a:rPr dirty="0" err="1"/>
              <a:t>Xoxoday</a:t>
            </a:r>
            <a:r>
              <a:rPr dirty="0"/>
              <a:t> account is NOT the central hub → weak reach.</a:t>
            </a:r>
          </a:p>
          <a:p>
            <a:r>
              <a:rPr dirty="0"/>
              <a:t>• Three major communities detected.</a:t>
            </a:r>
          </a:p>
          <a:p>
            <a:r>
              <a:rPr dirty="0"/>
              <a:t>• Visual + hashtag posts outperform text-only tweets.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Nodes: unique </a:t>
            </a:r>
            <a:r>
              <a:rPr lang="en-US" dirty="0" err="1"/>
              <a:t>user_ids</a:t>
            </a:r>
            <a:r>
              <a:rPr lang="en-US" dirty="0"/>
              <a:t> (</a:t>
            </a:r>
            <a:r>
              <a:rPr lang="en-US" dirty="0" err="1"/>
              <a:t>screen_name</a:t>
            </a:r>
            <a:r>
              <a:rPr lang="en-US" dirty="0"/>
              <a:t>, </a:t>
            </a:r>
            <a:r>
              <a:rPr lang="en-US" dirty="0" err="1"/>
              <a:t>user_id</a:t>
            </a:r>
            <a:r>
              <a:rPr lang="en-US" dirty="0"/>
              <a:t>)</a:t>
            </a:r>
          </a:p>
          <a:p>
            <a:r>
              <a:rPr lang="en-US" dirty="0"/>
              <a:t>Edges: (from -&gt; to) for retweets, replies, mentions; weight = count</a:t>
            </a:r>
          </a:p>
          <a:p>
            <a:r>
              <a:rPr lang="en-US" dirty="0"/>
              <a:t>Directed graph captures flow of information and influence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Data Summary </a:t>
            </a:r>
            <a:br>
              <a:rPr lang="en-US" dirty="0"/>
            </a:br>
            <a:r>
              <a:rPr lang="en-US" dirty="0"/>
              <a:t>Tweets rows: 4565</a:t>
            </a:r>
          </a:p>
          <a:p>
            <a:r>
              <a:rPr lang="en-US" dirty="0"/>
              <a:t>Retweet edges: 467</a:t>
            </a:r>
          </a:p>
          <a:p>
            <a:r>
              <a:rPr lang="en-US" dirty="0"/>
              <a:t>Unique users/nodes: 90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Retweet Network Graph</a:t>
            </a:r>
          </a:p>
        </p:txBody>
      </p:sp>
      <p:pic>
        <p:nvPicPr>
          <p:cNvPr id="3" name="Content Placeholder 3" descr="retweet_network_full.png">
            <a:extLst>
              <a:ext uri="{FF2B5EF4-FFF2-40B4-BE49-F238E27FC236}">
                <a16:creationId xmlns:a16="http://schemas.microsoft.com/office/drawing/2014/main" id="{C1CF3022-D2B0-0908-38EC-A9A9913F4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9908"/>
            <a:ext cx="5177790" cy="41422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4CC9F1-1226-D22B-E14D-64541634E5CE}"/>
              </a:ext>
            </a:extLst>
          </p:cNvPr>
          <p:cNvSpPr txBox="1"/>
          <p:nvPr/>
        </p:nvSpPr>
        <p:spPr>
          <a:xfrm>
            <a:off x="4837176" y="2385638"/>
            <a:ext cx="3849624" cy="333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The chart 'Retweet Network Graph' shows key structural network insights: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• Helps identify how engagement flows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• Indicates influencers, connectors, or cluster hubs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• Supports strategic targeting and posting adjustments</a:t>
            </a:r>
            <a:br>
              <a:rPr lang="en-US" sz="1800" dirty="0"/>
            </a:br>
            <a:br>
              <a:rPr lang="en-US" sz="1800" dirty="0"/>
            </a:br>
            <a:r>
              <a:rPr lang="en-US" dirty="0"/>
              <a:t>Shows the entire retweet network. </a:t>
            </a:r>
            <a:r>
              <a:rPr lang="en-US" dirty="0" err="1"/>
              <a:t>Xoxoday</a:t>
            </a:r>
            <a:r>
              <a:rPr lang="en-US" dirty="0"/>
              <a:t> is not a central hub → weak message spread.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Top 10 Indegree</a:t>
            </a:r>
          </a:p>
        </p:txBody>
      </p:sp>
      <p:pic>
        <p:nvPicPr>
          <p:cNvPr id="3" name="Picture 2" descr="top10_indegree.png">
            <a:extLst>
              <a:ext uri="{FF2B5EF4-FFF2-40B4-BE49-F238E27FC236}">
                <a16:creationId xmlns:a16="http://schemas.microsoft.com/office/drawing/2014/main" id="{2FF32937-27B6-F3AF-1923-28A6BD7FA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" y="2469566"/>
            <a:ext cx="5026914" cy="30161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72C7DA-B79F-22AD-DAE5-2B1F08F40BE8}"/>
              </a:ext>
            </a:extLst>
          </p:cNvPr>
          <p:cNvSpPr txBox="1"/>
          <p:nvPr/>
        </p:nvSpPr>
        <p:spPr>
          <a:xfrm>
            <a:off x="5175504" y="2139696"/>
            <a:ext cx="32644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users most retweeted. These are </a:t>
            </a:r>
            <a:r>
              <a:rPr lang="en-US" dirty="0" err="1"/>
              <a:t>Xoxoday’s</a:t>
            </a:r>
            <a:r>
              <a:rPr lang="en-US" dirty="0"/>
              <a:t> top influencers.</a:t>
            </a:r>
          </a:p>
          <a:p>
            <a:endParaRPr lang="en-US" sz="1800" dirty="0"/>
          </a:p>
          <a:p>
            <a:r>
              <a:rPr lang="en-US" sz="1800" dirty="0"/>
              <a:t>The chart 'Top 10 Influencers (Indegree)' shows key structural network insights:</a:t>
            </a:r>
          </a:p>
          <a:p>
            <a:r>
              <a:rPr lang="en-US" sz="1800" dirty="0"/>
              <a:t>• Helps identify how engagement flows</a:t>
            </a:r>
          </a:p>
          <a:p>
            <a:r>
              <a:rPr lang="en-US" sz="1800" dirty="0"/>
              <a:t>• Indicates influencers, connectors, or cluster hubs</a:t>
            </a:r>
          </a:p>
          <a:p>
            <a:r>
              <a:rPr lang="en-US" sz="1800" dirty="0"/>
              <a:t>• Supports strategic targeting and posting adjustments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E4AFDD-983B-BEC2-0D17-DA2D322E80E9}"/>
              </a:ext>
            </a:extLst>
          </p:cNvPr>
          <p:cNvSpPr txBox="1"/>
          <p:nvPr/>
        </p:nvSpPr>
        <p:spPr>
          <a:xfrm>
            <a:off x="657519" y="1209964"/>
            <a:ext cx="2591866" cy="47713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These users bridge multiple communities and are critical for spreading information across clusters. Partnering with them increases message reach.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chart 'Closeness Distribution' shows key structural network insights: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• Helps identify how engagement flows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• Indicates influencers, connectors, or cluster hubs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• Supports strategic targeting and posting adjustments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2F4DD-DEF7-345E-C0C5-0F912DEE2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73139"/>
            <a:ext cx="3417427" cy="205045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1ABCC42-48DA-ABEF-8E5B-9F2C30B5BB7C}"/>
              </a:ext>
            </a:extLst>
          </p:cNvPr>
          <p:cNvSpPr txBox="1"/>
          <p:nvPr/>
        </p:nvSpPr>
        <p:spPr>
          <a:xfrm>
            <a:off x="3024909" y="11038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 10Closeness</a:t>
            </a:r>
          </a:p>
        </p:txBody>
      </p:sp>
    </p:spTree>
    <p:extLst>
      <p:ext uri="{BB962C8B-B14F-4D97-AF65-F5344CB8AC3E}">
        <p14:creationId xmlns:p14="http://schemas.microsoft.com/office/powerpoint/2010/main" val="3838555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2F3BBE-257D-A6F0-1BEF-D0587422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52" y="1089891"/>
            <a:ext cx="6797984" cy="35560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F078D-85D2-508D-5D6E-F9F34CDEDD23}"/>
              </a:ext>
            </a:extLst>
          </p:cNvPr>
          <p:cNvSpPr txBox="1"/>
          <p:nvPr/>
        </p:nvSpPr>
        <p:spPr>
          <a:xfrm>
            <a:off x="2138218" y="464593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infographic summarizes:</a:t>
            </a:r>
          </a:p>
          <a:p>
            <a:r>
              <a:rPr lang="en-US" dirty="0"/>
              <a:t>• Graph construction (directed edges)</a:t>
            </a:r>
          </a:p>
          <a:p>
            <a:r>
              <a:rPr lang="en-US" dirty="0"/>
              <a:t>• Cluster detection (modularity groups)</a:t>
            </a:r>
          </a:p>
          <a:p>
            <a:r>
              <a:rPr lang="en-US" dirty="0"/>
              <a:t>• Outcome (influencers &amp; engagement structure)</a:t>
            </a:r>
          </a:p>
        </p:txBody>
      </p:sp>
    </p:spTree>
    <p:extLst>
      <p:ext uri="{BB962C8B-B14F-4D97-AF65-F5344CB8AC3E}">
        <p14:creationId xmlns:p14="http://schemas.microsoft.com/office/powerpoint/2010/main" val="71274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844BD4-BA8E-7447-9B97-122A903EE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0" y="1049099"/>
            <a:ext cx="7833640" cy="403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61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dirty="0"/>
              <a:t>1. Partner with top influencers.</a:t>
            </a:r>
          </a:p>
          <a:p>
            <a:r>
              <a:rPr dirty="0"/>
              <a:t>2. Increase visual and hashtag-based content.</a:t>
            </a:r>
          </a:p>
          <a:p>
            <a:r>
              <a:rPr dirty="0"/>
              <a:t>3. Target identified communities.</a:t>
            </a:r>
          </a:p>
          <a:p>
            <a:r>
              <a:rPr dirty="0"/>
              <a:t>4. Adjust posting schedule.</a:t>
            </a:r>
          </a:p>
          <a:p>
            <a:r>
              <a:rPr dirty="0"/>
              <a:t>5. Create CTA-driven content.</a:t>
            </a:r>
          </a:p>
          <a:p>
            <a:r>
              <a:rPr dirty="0"/>
              <a:t>6. Track SNA metrics weekly.</a:t>
            </a:r>
            <a:endParaRPr lang="en-US" dirty="0"/>
          </a:p>
          <a:p>
            <a:r>
              <a:rPr lang="en-US" dirty="0"/>
              <a:t>1. Partner with high indegree users (influencers).</a:t>
            </a:r>
          </a:p>
          <a:p>
            <a:r>
              <a:rPr lang="en-US" dirty="0"/>
              <a:t>2. Increase visual + hashtag content frequency.</a:t>
            </a:r>
          </a:p>
          <a:p>
            <a:r>
              <a:rPr lang="en-US" dirty="0"/>
              <a:t>3. Target content to 3 detected engagement clusters.</a:t>
            </a:r>
          </a:p>
          <a:p>
            <a:r>
              <a:rPr lang="en-US" dirty="0"/>
              <a:t>4. Post during peak engagement windows.</a:t>
            </a:r>
          </a:p>
          <a:p>
            <a:r>
              <a:rPr lang="en-US" dirty="0"/>
              <a:t>5. Use CTA-driven messaging &amp; contest-based promotions.</a:t>
            </a:r>
          </a:p>
          <a:p>
            <a:r>
              <a:rPr lang="en-US" dirty="0"/>
              <a:t>6. Monitor SNA metrics monthly to measure improvement. Identify top influencers (target for partnerships)</a:t>
            </a:r>
          </a:p>
          <a:p>
            <a:r>
              <a:rPr lang="en-US" dirty="0"/>
              <a:t>Optimize posting schedule to match active clusters' time zones</a:t>
            </a:r>
          </a:p>
          <a:p>
            <a:r>
              <a:rPr lang="en-US" dirty="0"/>
              <a:t>Prioritize content formats that drove retweets/engagement</a:t>
            </a:r>
          </a:p>
          <a:p>
            <a:r>
              <a:rPr lang="en-US" dirty="0"/>
              <a:t>Run A/B tests with influencer-shared content</a:t>
            </a:r>
            <a:br>
              <a:rPr lang="en-US" dirty="0"/>
            </a:br>
            <a:r>
              <a:rPr lang="en-US" dirty="0"/>
              <a:t>• Leverage influencers (e.g., </a:t>
            </a:r>
            <a:r>
              <a:rPr lang="en-US" dirty="0" err="1"/>
              <a:t>thexoxoday</a:t>
            </a:r>
            <a:r>
              <a:rPr lang="en-US" dirty="0"/>
              <a:t> is central) for amplification.</a:t>
            </a:r>
          </a:p>
          <a:p>
            <a:r>
              <a:rPr lang="en-US" dirty="0"/>
              <a:t>• Create targeted content and track engagement via network metrics.</a:t>
            </a:r>
          </a:p>
          <a:p>
            <a:r>
              <a:rPr lang="en-US" dirty="0"/>
              <a:t>• Run A/B tests on post formats and measure retweet propagation.</a:t>
            </a:r>
          </a:p>
          <a:p>
            <a:r>
              <a:rPr lang="en-US" dirty="0"/>
              <a:t>• Monitor betweenness nodes for information flow control.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738</Words>
  <Application>Microsoft Office PowerPoint</Application>
  <PresentationFormat>On-screen Show (4:3)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Xoxoday Social Media Analytics Capstone</vt:lpstr>
      <vt:lpstr>Research Question</vt:lpstr>
      <vt:lpstr>Business Challenges</vt:lpstr>
      <vt:lpstr>Dataset Overview</vt:lpstr>
      <vt:lpstr>Methods used </vt:lpstr>
      <vt:lpstr>Key Findings</vt:lpstr>
      <vt:lpstr>Retweet Network Graph</vt:lpstr>
      <vt:lpstr>Top 10 Indegree</vt:lpstr>
      <vt:lpstr>PowerPoint Presentation</vt:lpstr>
      <vt:lpstr>PowerPoint Presentation</vt:lpstr>
      <vt:lpstr>PowerPoint Presentation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Dilari, Madhurima</cp:lastModifiedBy>
  <cp:revision>2</cp:revision>
  <dcterms:created xsi:type="dcterms:W3CDTF">2013-01-27T09:14:16Z</dcterms:created>
  <dcterms:modified xsi:type="dcterms:W3CDTF">2025-12-05T15:23:41Z</dcterms:modified>
  <cp:category/>
</cp:coreProperties>
</file>