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2749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5508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9376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0322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4788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2434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8884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9315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421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93416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34041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90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77455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45815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02282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93272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6844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18F73C-E5FB-4CF8-BB99-52E0A46E61C0}" type="datetimeFigureOut">
              <a:rPr lang="en-KE" smtClean="0"/>
              <a:t>12/05/2025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E2DE6-55CE-4100-BE6D-CA568CAC1A7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56964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074A11F9-B91C-AB0D-6AE9-51352B085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011" y="1266958"/>
            <a:ext cx="3515068" cy="4528457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2"/>
                </a:solidFill>
              </a:rPr>
              <a:t>Akhila Thakur</a:t>
            </a:r>
          </a:p>
          <a:p>
            <a:pPr algn="r"/>
            <a:r>
              <a:rPr lang="en-US" dirty="0">
                <a:solidFill>
                  <a:schemeClr val="tx2"/>
                </a:solidFill>
              </a:rPr>
              <a:t>Madhurima </a:t>
            </a:r>
            <a:r>
              <a:rPr lang="en-US" dirty="0" err="1">
                <a:solidFill>
                  <a:schemeClr val="tx2"/>
                </a:solidFill>
              </a:rPr>
              <a:t>Dilari</a:t>
            </a:r>
            <a:endParaRPr lang="en-US" dirty="0">
              <a:solidFill>
                <a:schemeClr val="tx2"/>
              </a:solidFill>
            </a:endParaRPr>
          </a:p>
          <a:p>
            <a:pPr algn="r"/>
            <a:r>
              <a:rPr lang="en-US" dirty="0">
                <a:solidFill>
                  <a:schemeClr val="tx2"/>
                </a:solidFill>
              </a:rPr>
              <a:t>Shiva Shankar </a:t>
            </a:r>
            <a:r>
              <a:rPr lang="en-US" dirty="0" err="1">
                <a:solidFill>
                  <a:schemeClr val="tx2"/>
                </a:solidFill>
              </a:rPr>
              <a:t>Gundla</a:t>
            </a:r>
            <a:endParaRPr lang="en-US" dirty="0">
              <a:solidFill>
                <a:schemeClr val="tx2"/>
              </a:solidFill>
            </a:endParaRPr>
          </a:p>
          <a:p>
            <a:pPr algn="r"/>
            <a:r>
              <a:rPr lang="en-US" dirty="0">
                <a:solidFill>
                  <a:schemeClr val="tx2"/>
                </a:solidFill>
              </a:rPr>
              <a:t>Preethi </a:t>
            </a:r>
            <a:r>
              <a:rPr lang="en-US" dirty="0" err="1">
                <a:solidFill>
                  <a:schemeClr val="tx2"/>
                </a:solidFill>
              </a:rPr>
              <a:t>Vudugula</a:t>
            </a:r>
            <a:endParaRPr lang="en-US" dirty="0">
              <a:solidFill>
                <a:schemeClr val="tx2"/>
              </a:solidFill>
            </a:endParaRPr>
          </a:p>
          <a:p>
            <a:pPr algn="r"/>
            <a:r>
              <a:rPr lang="en-US" dirty="0">
                <a:solidFill>
                  <a:schemeClr val="tx2"/>
                </a:solidFill>
              </a:rPr>
              <a:t>Nandini </a:t>
            </a:r>
            <a:r>
              <a:rPr lang="en-US" dirty="0" err="1">
                <a:solidFill>
                  <a:schemeClr val="tx2"/>
                </a:solidFill>
              </a:rPr>
              <a:t>Kovuru</a:t>
            </a:r>
            <a:endParaRPr lang="en-US" dirty="0">
              <a:solidFill>
                <a:schemeClr val="tx2"/>
              </a:solidFill>
            </a:endParaRPr>
          </a:p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E196E-9092-232A-DD10-6DF0C391F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5" y="1266958"/>
            <a:ext cx="6808362" cy="4528457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 err="1"/>
              <a:t>Xoxoday</a:t>
            </a:r>
            <a:r>
              <a:rPr lang="en-US" sz="6000" b="1" dirty="0"/>
              <a:t> com: Customer Engagement through Social Media</a:t>
            </a:r>
            <a:br>
              <a:rPr lang="en-US" dirty="0"/>
            </a:br>
            <a:endParaRPr lang="en-KE" sz="6700" b="1" dirty="0"/>
          </a:p>
        </p:txBody>
      </p:sp>
    </p:spTree>
    <p:extLst>
      <p:ext uri="{BB962C8B-B14F-4D97-AF65-F5344CB8AC3E}">
        <p14:creationId xmlns:p14="http://schemas.microsoft.com/office/powerpoint/2010/main" val="247202976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DF60-74AA-EF32-29F9-F2BF264E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Project Overview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AA33C-B0BB-46E7-F428-3F2AF946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17506" cy="4818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This project analyzes:</a:t>
            </a:r>
          </a:p>
          <a:p>
            <a:r>
              <a:rPr lang="en-US" dirty="0"/>
              <a:t>How users interact with </a:t>
            </a:r>
            <a:r>
              <a:rPr lang="en-US" dirty="0" err="1"/>
              <a:t>Xoxoday</a:t>
            </a:r>
            <a:r>
              <a:rPr lang="en-US" dirty="0"/>
              <a:t> on Twitter through mentions, replies, and retweets.</a:t>
            </a:r>
          </a:p>
          <a:p>
            <a:r>
              <a:rPr lang="en-US" dirty="0"/>
              <a:t>Whether engagement is organic, campaign-driven, or artificially inflated.</a:t>
            </a:r>
          </a:p>
          <a:p>
            <a:r>
              <a:rPr lang="en-US" dirty="0"/>
              <a:t>How information flows through the network and who holds influence.</a:t>
            </a:r>
          </a:p>
          <a:p>
            <a:pPr marL="0" indent="0">
              <a:buNone/>
            </a:pPr>
            <a:r>
              <a:rPr lang="en-US" b="1" dirty="0"/>
              <a:t>Why this matters:</a:t>
            </a:r>
          </a:p>
          <a:p>
            <a:r>
              <a:rPr lang="en-US" dirty="0"/>
              <a:t>Brands rely on social media for audience growth, engagement, and storytelling.</a:t>
            </a:r>
          </a:p>
          <a:p>
            <a:r>
              <a:rPr lang="en-US" dirty="0"/>
              <a:t>Without understanding structural engagement patterns, strategy remains guesswork.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941229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10C4-58A1-0A95-36CC-24A0AC49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Research Motivation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C9FB-4175-9743-CAA7-FDCF2C1BA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56403" cy="485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Business Problem:</a:t>
            </a:r>
          </a:p>
          <a:p>
            <a:pPr marL="0" indent="0">
              <a:buNone/>
            </a:pPr>
            <a:r>
              <a:rPr lang="en-US" dirty="0" err="1"/>
              <a:t>Xoxoday</a:t>
            </a:r>
            <a:r>
              <a:rPr lang="en-US" dirty="0"/>
              <a:t> posts actively on Twitter but lacks insights into:</a:t>
            </a:r>
          </a:p>
          <a:p>
            <a:r>
              <a:rPr lang="en-US" dirty="0"/>
              <a:t>Who engages with the brand</a:t>
            </a:r>
          </a:p>
          <a:p>
            <a:r>
              <a:rPr lang="en-US" dirty="0"/>
              <a:t>How influence is distributed</a:t>
            </a:r>
          </a:p>
          <a:p>
            <a:r>
              <a:rPr lang="en-US" dirty="0"/>
              <a:t>Whether the audience is truly interacting or only reacting to campaigns</a:t>
            </a:r>
          </a:p>
          <a:p>
            <a:pPr marL="0" indent="0">
              <a:buNone/>
            </a:pPr>
            <a:r>
              <a:rPr lang="en-US" b="1" dirty="0"/>
              <a:t>SNA provides the structure to:</a:t>
            </a:r>
          </a:p>
          <a:p>
            <a:r>
              <a:rPr lang="en-US" dirty="0"/>
              <a:t>Evaluate authenticity of engagement</a:t>
            </a:r>
          </a:p>
          <a:p>
            <a:r>
              <a:rPr lang="en-US" dirty="0"/>
              <a:t>Detect power imbalances and bottlenecks</a:t>
            </a:r>
          </a:p>
          <a:p>
            <a:r>
              <a:rPr lang="en-US" dirty="0"/>
              <a:t>Reveal how conversations form and flow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62540199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A935-E0FA-6257-DECE-426363DF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Literature Foundation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6E998-F1A0-FE28-993F-F9C892023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14276" cy="48876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concepts grounding the study:</a:t>
            </a:r>
          </a:p>
          <a:p>
            <a:r>
              <a:rPr lang="en-US" b="1" dirty="0"/>
              <a:t>Network Centrality (Borgatti et al., 2009):</a:t>
            </a:r>
            <a:r>
              <a:rPr lang="en-US" dirty="0"/>
              <a:t>Identifies influential actors and structural positions of power.</a:t>
            </a:r>
          </a:p>
          <a:p>
            <a:r>
              <a:rPr lang="en-US" b="1" dirty="0"/>
              <a:t>Twitter’s Hierarchical Structure (Kwak et al., 2010):</a:t>
            </a:r>
            <a:r>
              <a:rPr lang="en-US" dirty="0"/>
              <a:t>Twitter often exhibits centralized attention patterns dominated by a few accounts.</a:t>
            </a:r>
          </a:p>
          <a:p>
            <a:r>
              <a:rPr lang="en-US" b="1" dirty="0"/>
              <a:t>Virality Drivers (Berger &amp; Milkman, 2012):</a:t>
            </a:r>
            <a:r>
              <a:rPr lang="en-US" dirty="0"/>
              <a:t>Emotional or high-arousal content spreads more effectively.</a:t>
            </a:r>
          </a:p>
          <a:p>
            <a:r>
              <a:rPr lang="en-US" b="1" dirty="0"/>
              <a:t>Contest Tagging Behavior (Liu &amp; Dai, 2020):</a:t>
            </a:r>
            <a:r>
              <a:rPr lang="en-US" dirty="0"/>
              <a:t>Promotional contests may artificially inflate engagement without true interest.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303716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2F51-3384-5442-E80A-2ABF87DD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Sources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DFC0D-9A18-47E2-3A95-896454F2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10104" cy="478351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analysis uses three primary datasets:</a:t>
            </a:r>
          </a:p>
          <a:p>
            <a:r>
              <a:rPr lang="en-US" dirty="0"/>
              <a:t>Mentions &amp; Replies Dataset: Directed edges capturing conversational interactions.</a:t>
            </a:r>
          </a:p>
          <a:p>
            <a:r>
              <a:rPr lang="en-US" dirty="0"/>
              <a:t>Retweets Dataset: Identifies how tweets are amplified across users.</a:t>
            </a:r>
          </a:p>
          <a:p>
            <a:r>
              <a:rPr lang="en-US" dirty="0"/>
              <a:t>Node Metadata: Profile-level attributes of accounts in the network.</a:t>
            </a:r>
          </a:p>
          <a:p>
            <a:pPr marL="0" indent="0">
              <a:buNone/>
            </a:pPr>
            <a:r>
              <a:rPr lang="en-US" b="1" dirty="0"/>
              <a:t>Collection &amp; Structure:</a:t>
            </a:r>
          </a:p>
          <a:p>
            <a:r>
              <a:rPr lang="en-US" dirty="0"/>
              <a:t>Each interaction stored as a source → target relationship.</a:t>
            </a:r>
          </a:p>
          <a:p>
            <a:r>
              <a:rPr lang="en-US" dirty="0"/>
              <a:t>Edge weights used for retweets.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142879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31B4-577D-6B25-78CE-4EF59902A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Cleaning &amp; Preparation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A199F-48EC-E028-DACB-E6EE25D08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1127" cy="4667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Data standardization steps (R):</a:t>
            </a:r>
          </a:p>
          <a:p>
            <a:r>
              <a:rPr lang="en-US" dirty="0"/>
              <a:t>Column normalization using janitor::</a:t>
            </a:r>
            <a:r>
              <a:rPr lang="en-US" dirty="0" err="1"/>
              <a:t>clean_names</a:t>
            </a:r>
            <a:r>
              <a:rPr lang="en-US" dirty="0"/>
              <a:t>()</a:t>
            </a:r>
          </a:p>
          <a:p>
            <a:r>
              <a:rPr lang="en-US" dirty="0"/>
              <a:t>Removal of redundant or empty fields</a:t>
            </a:r>
          </a:p>
          <a:p>
            <a:r>
              <a:rPr lang="en-US" dirty="0"/>
              <a:t>Standardization of usernames</a:t>
            </a:r>
          </a:p>
          <a:p>
            <a:r>
              <a:rPr lang="en-US" dirty="0"/>
              <a:t>Construction of edge lists for both networks</a:t>
            </a:r>
          </a:p>
          <a:p>
            <a:r>
              <a:rPr lang="en-US" dirty="0"/>
              <a:t>Ensuring no broken or orphan nodes</a:t>
            </a:r>
          </a:p>
          <a:p>
            <a:pPr marL="0" indent="0">
              <a:buNone/>
            </a:pPr>
            <a:r>
              <a:rPr lang="en-US" b="1" dirty="0"/>
              <a:t>Result:</a:t>
            </a:r>
          </a:p>
          <a:p>
            <a:r>
              <a:rPr lang="en-US" dirty="0"/>
              <a:t>A fully cleaned, analysis-ready representation of Twitter interactions.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62325478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9E02-D6C1-CDEB-1F29-34010543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Methodological Framework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5F6B-79E3-5877-9659-73289531F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7977" cy="48529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Social Network Analysis techniques applied:</a:t>
            </a:r>
          </a:p>
          <a:p>
            <a:pPr marL="0" indent="0">
              <a:buNone/>
            </a:pPr>
            <a:r>
              <a:rPr lang="en-US" b="1" dirty="0"/>
              <a:t>Centrality Metrics:</a:t>
            </a:r>
          </a:p>
          <a:p>
            <a:r>
              <a:rPr lang="en-US" dirty="0"/>
              <a:t>Indegree: Attention received</a:t>
            </a:r>
          </a:p>
          <a:p>
            <a:r>
              <a:rPr lang="en-US" dirty="0"/>
              <a:t>Outdegree: Interactions initiated</a:t>
            </a:r>
          </a:p>
          <a:p>
            <a:r>
              <a:rPr lang="en-US" dirty="0"/>
              <a:t>Betweenness: Ability to bridge communities</a:t>
            </a:r>
          </a:p>
          <a:p>
            <a:r>
              <a:rPr lang="en-US" dirty="0"/>
              <a:t>PageRank: Overall influence through connectedness</a:t>
            </a:r>
          </a:p>
          <a:p>
            <a:pPr marL="0" indent="0">
              <a:buNone/>
            </a:pPr>
            <a:r>
              <a:rPr lang="en-US" b="1" dirty="0"/>
              <a:t>Community Detection:</a:t>
            </a:r>
          </a:p>
          <a:p>
            <a:r>
              <a:rPr lang="en-US" dirty="0"/>
              <a:t>Louvain modularity algorithm groups accounts into natural clusters.</a:t>
            </a:r>
          </a:p>
          <a:p>
            <a:pPr marL="0" indent="0">
              <a:buNone/>
            </a:pPr>
            <a:r>
              <a:rPr lang="en-US" b="1" dirty="0"/>
              <a:t>Temporal Analysis:</a:t>
            </a:r>
          </a:p>
          <a:p>
            <a:r>
              <a:rPr lang="en-US" dirty="0"/>
              <a:t>Examines daily Tweet volume for patterns or spikes.</a:t>
            </a:r>
          </a:p>
          <a:p>
            <a:pPr marL="0" indent="0">
              <a:buNone/>
            </a:pPr>
            <a:r>
              <a:rPr lang="en-US" b="1" dirty="0"/>
              <a:t>Graph Visualization:</a:t>
            </a:r>
          </a:p>
          <a:p>
            <a:r>
              <a:rPr lang="en-US" dirty="0"/>
              <a:t>Force-directed layouts for structural interpretation.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87639558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BCFE-FA59-4148-CC43-BA84B97B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Mentions &amp; Replies Network Structure</a:t>
            </a:r>
            <a:endParaRPr lang="en-KE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0ED38-12FC-01E8-4A21-3541C3CDD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2435" y="1825625"/>
            <a:ext cx="6447099" cy="4795094"/>
          </a:xfrm>
        </p:spPr>
        <p:txBody>
          <a:bodyPr>
            <a:normAutofit/>
          </a:bodyPr>
          <a:lstStyle/>
          <a:p>
            <a:r>
              <a:rPr lang="en-US" dirty="0"/>
              <a:t>The network forms a hub-and-spoke structure, where @thexoxoday acts as the central hub.</a:t>
            </a:r>
          </a:p>
          <a:p>
            <a:r>
              <a:rPr lang="en-US" dirty="0"/>
              <a:t>Almost all user interactions are directed toward the brand rather than toward other users.</a:t>
            </a:r>
          </a:p>
          <a:p>
            <a:r>
              <a:rPr lang="en-US" dirty="0"/>
              <a:t>Dense cluster around the brand indicates high attention but limited community conversation.</a:t>
            </a:r>
          </a:p>
          <a:p>
            <a:r>
              <a:rPr lang="en-US" dirty="0"/>
              <a:t>Peripheral nodes have little connectivity to each other, showing that users do not engage horizontally.</a:t>
            </a:r>
          </a:p>
          <a:p>
            <a:r>
              <a:rPr lang="en-US" dirty="0"/>
              <a:t>This structure suggests brand-dominated communication rather than participatory social interaction.</a:t>
            </a:r>
            <a:endParaRPr lang="en-K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C8BE252-2A6C-6B19-CDD3-372A4660DE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027" y="2196448"/>
            <a:ext cx="4395788" cy="2715486"/>
          </a:xfrm>
        </p:spPr>
      </p:pic>
    </p:spTree>
    <p:extLst>
      <p:ext uri="{BB962C8B-B14F-4D97-AF65-F5344CB8AC3E}">
        <p14:creationId xmlns:p14="http://schemas.microsoft.com/office/powerpoint/2010/main" val="401219806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F66F-A5DF-3E98-A123-0D8D7455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Retweet Network Structure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D1E0-150B-3292-EA7D-B79D8F469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287" y="1825625"/>
            <a:ext cx="6620718" cy="4829818"/>
          </a:xfrm>
        </p:spPr>
        <p:txBody>
          <a:bodyPr>
            <a:normAutofit/>
          </a:bodyPr>
          <a:lstStyle/>
          <a:p>
            <a:r>
              <a:rPr lang="en-US" dirty="0"/>
              <a:t>The graph is composed of small, disconnected star-like bursts.</a:t>
            </a:r>
          </a:p>
          <a:p>
            <a:r>
              <a:rPr lang="en-US" dirty="0"/>
              <a:t>Major starburst represents a single high-performing tweet that went viral.</a:t>
            </a:r>
          </a:p>
          <a:p>
            <a:r>
              <a:rPr lang="en-US" dirty="0"/>
              <a:t>The majority of tweets show shallow and isolated diffusion, failing to spread beyond one layer.</a:t>
            </a:r>
          </a:p>
          <a:p>
            <a:r>
              <a:rPr lang="en-US" dirty="0"/>
              <a:t>Retweet behavior is event-based, not continuous—engagement spikes around specific content but does not persist.</a:t>
            </a:r>
          </a:p>
          <a:p>
            <a:r>
              <a:rPr lang="en-US" dirty="0"/>
              <a:t>The network lacks interconnected clusters that typically signify thriving communities.</a:t>
            </a:r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9CB4A2-ACC6-0C49-B893-0562B75FA8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602" y="2161724"/>
            <a:ext cx="4395788" cy="2715486"/>
          </a:xfrm>
        </p:spPr>
      </p:pic>
    </p:spTree>
    <p:extLst>
      <p:ext uri="{BB962C8B-B14F-4D97-AF65-F5344CB8AC3E}">
        <p14:creationId xmlns:p14="http://schemas.microsoft.com/office/powerpoint/2010/main" val="375299433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9AE7-B8BE-CA25-A86E-84D4AC1B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Indegree Rankings (Mentions &amp; Replies)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2643-6ED0-CAA6-71DD-8DA241839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4562" y="1825624"/>
            <a:ext cx="6562846" cy="4771945"/>
          </a:xfrm>
        </p:spPr>
        <p:txBody>
          <a:bodyPr>
            <a:normAutofit/>
          </a:bodyPr>
          <a:lstStyle/>
          <a:p>
            <a:r>
              <a:rPr lang="en-US" dirty="0"/>
              <a:t>@thexoxoday receives 47 incoming mentions, dominating the network.</a:t>
            </a:r>
          </a:p>
          <a:p>
            <a:r>
              <a:rPr lang="en-US" dirty="0"/>
              <a:t>The second-highest account receives only 4 mentions, establishing a steep inequality.</a:t>
            </a:r>
          </a:p>
          <a:p>
            <a:r>
              <a:rPr lang="en-US" dirty="0"/>
              <a:t>Indicates extreme centralization: the brand account attracts nearly all attention.</a:t>
            </a:r>
          </a:p>
          <a:p>
            <a:r>
              <a:rPr lang="en-US" dirty="0"/>
              <a:t>Highlights the absence of other influential community voices or ambassadors.</a:t>
            </a:r>
          </a:p>
          <a:p>
            <a:r>
              <a:rPr lang="en-US" dirty="0"/>
              <a:t>No secondary nodes emerge as potential engagement drivers.</a:t>
            </a:r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152BE0-7777-AD69-6A1D-2E10FBFBDE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408" y="1942878"/>
            <a:ext cx="4959499" cy="3902751"/>
          </a:xfrm>
        </p:spPr>
      </p:pic>
    </p:spTree>
    <p:extLst>
      <p:ext uri="{BB962C8B-B14F-4D97-AF65-F5344CB8AC3E}">
        <p14:creationId xmlns:p14="http://schemas.microsoft.com/office/powerpoint/2010/main" val="193174326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CB25-418A-20F7-19BA-A5CA990C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Outdegree Patterns (Who Sends Mentions?)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A5041-799B-5582-76EB-AB8D8D642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123" y="1825625"/>
            <a:ext cx="6165447" cy="4667250"/>
          </a:xfrm>
        </p:spPr>
        <p:txBody>
          <a:bodyPr>
            <a:normAutofit/>
          </a:bodyPr>
          <a:lstStyle/>
          <a:p>
            <a:r>
              <a:rPr lang="en-US" dirty="0"/>
              <a:t>@contestadventur produces over 4,000 outgoing mentions—anomalously high.</a:t>
            </a:r>
          </a:p>
          <a:p>
            <a:r>
              <a:rPr lang="en-US" dirty="0"/>
              <a:t>Behavior suggests automated tagging or bot-driven promotional activity.</a:t>
            </a:r>
          </a:p>
          <a:p>
            <a:r>
              <a:rPr lang="en-US" dirty="0"/>
              <a:t>This inflates activity metrics but does not reflect genuine engagement.</a:t>
            </a:r>
          </a:p>
          <a:p>
            <a:r>
              <a:rPr lang="en-US" dirty="0"/>
              <a:t>@thexoxoday generates 241 outgoing mentions—active, but not disproportionate.</a:t>
            </a:r>
          </a:p>
          <a:p>
            <a:r>
              <a:rPr lang="en-US" dirty="0"/>
              <a:t>High outdegree distortion emphasizes the need to distinguish organic engagement from contest-driven noise.</a:t>
            </a:r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3DBDC5-BBC1-399D-CD6B-35F7FDD5A5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375" y="2152892"/>
            <a:ext cx="5349422" cy="3782544"/>
          </a:xfrm>
        </p:spPr>
      </p:pic>
    </p:spTree>
    <p:extLst>
      <p:ext uri="{BB962C8B-B14F-4D97-AF65-F5344CB8AC3E}">
        <p14:creationId xmlns:p14="http://schemas.microsoft.com/office/powerpoint/2010/main" val="341513381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57BF-5390-C332-32B6-C7A8837B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Comparison of Top Indegree Nodes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775A-1B30-BAE5-98F6-DA8548F70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2435" y="1825625"/>
            <a:ext cx="6597569" cy="4760370"/>
          </a:xfrm>
        </p:spPr>
        <p:txBody>
          <a:bodyPr>
            <a:normAutofit/>
          </a:bodyPr>
          <a:lstStyle/>
          <a:p>
            <a:r>
              <a:rPr lang="en-US" dirty="0"/>
              <a:t>Visually demonstrates the massive gap between the top two nodes.</a:t>
            </a:r>
          </a:p>
          <a:p>
            <a:r>
              <a:rPr lang="en-US" dirty="0"/>
              <a:t>Confirms there is no secondary influencer or strong advocate supporting the brand’s network.</a:t>
            </a:r>
          </a:p>
          <a:p>
            <a:r>
              <a:rPr lang="en-US" dirty="0"/>
              <a:t>The network cannot sustain diffusion without heavy dependence on the brand account.</a:t>
            </a:r>
          </a:p>
          <a:p>
            <a:r>
              <a:rPr lang="en-US" dirty="0"/>
              <a:t>A healthy network usually shows multiple strong nodes—here, the imbalance is extreme.</a:t>
            </a:r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76548C-ACD3-88F6-3A73-6AC94C0E0D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057" y="2141316"/>
            <a:ext cx="5079016" cy="3745133"/>
          </a:xfrm>
        </p:spPr>
      </p:pic>
    </p:spTree>
    <p:extLst>
      <p:ext uri="{BB962C8B-B14F-4D97-AF65-F5344CB8AC3E}">
        <p14:creationId xmlns:p14="http://schemas.microsoft.com/office/powerpoint/2010/main" val="274760419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A81F-0889-6E08-C0DB-2AE9EB08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Tweet Frequency Over Time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3963-3B95-36C6-273B-E9D2DBEF5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286" y="1825624"/>
            <a:ext cx="6667018" cy="4748795"/>
          </a:xfrm>
        </p:spPr>
        <p:txBody>
          <a:bodyPr>
            <a:normAutofit/>
          </a:bodyPr>
          <a:lstStyle/>
          <a:p>
            <a:r>
              <a:rPr lang="en-US" dirty="0"/>
              <a:t>Early activity is low and steady (1–3 tweets/day).</a:t>
            </a:r>
          </a:p>
          <a:p>
            <a:r>
              <a:rPr lang="en-US" dirty="0"/>
              <a:t>Sudden spike on January 26–27, likely tied to a campaign or event.</a:t>
            </a:r>
          </a:p>
          <a:p>
            <a:r>
              <a:rPr lang="en-US" dirty="0"/>
              <a:t>Rapid return to low activity indicates spike was not organic growth.</a:t>
            </a:r>
          </a:p>
          <a:p>
            <a:r>
              <a:rPr lang="en-US" dirty="0"/>
              <a:t>Suggests that sustained engagement requires more strategic content planning.</a:t>
            </a:r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384202-0D0D-F844-D092-9D04EA828A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179" y="2039129"/>
            <a:ext cx="4754913" cy="2573692"/>
          </a:xfrm>
        </p:spPr>
      </p:pic>
    </p:spTree>
    <p:extLst>
      <p:ext uri="{BB962C8B-B14F-4D97-AF65-F5344CB8AC3E}">
        <p14:creationId xmlns:p14="http://schemas.microsoft.com/office/powerpoint/2010/main" val="269954077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9AE6-4804-A9B1-26D2-186F0889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Retweet Weight Distribution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96A5-2662-FD0A-71B0-91AA7B73F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5114" y="1825625"/>
            <a:ext cx="6504972" cy="4795094"/>
          </a:xfrm>
        </p:spPr>
        <p:txBody>
          <a:bodyPr/>
          <a:lstStyle/>
          <a:p>
            <a:r>
              <a:rPr lang="en-US" dirty="0"/>
              <a:t>One tweet receives nearly 300 retweets, dominating diffusion.</a:t>
            </a:r>
          </a:p>
          <a:p>
            <a:r>
              <a:rPr lang="en-US" dirty="0"/>
              <a:t>The long tail of tweets shows little to no retweet activity.</a:t>
            </a:r>
          </a:p>
          <a:p>
            <a:r>
              <a:rPr lang="en-US" dirty="0"/>
              <a:t>Highly uneven distribution: viral outcomes depend on rare, exceptional content.</a:t>
            </a:r>
          </a:p>
          <a:p>
            <a:r>
              <a:rPr lang="en-US" dirty="0"/>
              <a:t>Indicates opportunity to analyze what made the viral tweet successful.</a:t>
            </a:r>
            <a:endParaRPr lang="en-K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6BF476-22D5-3BBF-AE4B-39FD0C4559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132" y="2152891"/>
            <a:ext cx="4826642" cy="3310359"/>
          </a:xfrm>
        </p:spPr>
      </p:pic>
    </p:spTree>
    <p:extLst>
      <p:ext uri="{BB962C8B-B14F-4D97-AF65-F5344CB8AC3E}">
        <p14:creationId xmlns:p14="http://schemas.microsoft.com/office/powerpoint/2010/main" val="162171504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D04FB4-53B3-B782-113B-0FDCA317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Integrated Interpretation of Findings</a:t>
            </a:r>
            <a:endParaRPr lang="en-KE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37043-03D2-4AD3-FBDE-C4853AE9F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57" y="1825624"/>
            <a:ext cx="11192719" cy="4783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Synthesis of All Visuals:</a:t>
            </a:r>
          </a:p>
          <a:p>
            <a:r>
              <a:rPr lang="en-US" dirty="0" err="1"/>
              <a:t>Xoxoday’s</a:t>
            </a:r>
            <a:r>
              <a:rPr lang="en-US" dirty="0"/>
              <a:t> Twitter engagement is highly centralized around the official brand account.</a:t>
            </a:r>
          </a:p>
          <a:p>
            <a:r>
              <a:rPr lang="en-US" dirty="0"/>
              <a:t>Contest-driven accounts create artificial visibility but lack community value.</a:t>
            </a:r>
          </a:p>
          <a:p>
            <a:r>
              <a:rPr lang="en-US" dirty="0"/>
              <a:t>Network lacks peer-to-peer engagement, reducing organic conversation potential.</a:t>
            </a:r>
          </a:p>
          <a:p>
            <a:r>
              <a:rPr lang="en-US" dirty="0"/>
              <a:t>Viral content exists but is not common, making it difficult to rely on for strategy.</a:t>
            </a:r>
          </a:p>
          <a:p>
            <a:r>
              <a:rPr lang="en-US" dirty="0"/>
              <a:t>Current network structure limits long-term audience expansion.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4179456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4FB5-ECEB-CDC4-94D1-64F4B85B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Strategic Recommendations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D752-F30B-3B2B-37A5-F06E1547A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34" y="1825624"/>
            <a:ext cx="11343190" cy="485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 strengthen </a:t>
            </a:r>
            <a:r>
              <a:rPr lang="en-US" b="1" dirty="0" err="1"/>
              <a:t>Xoxoday’s</a:t>
            </a:r>
            <a:r>
              <a:rPr lang="en-US" b="1" dirty="0"/>
              <a:t> engagement ecosystem:</a:t>
            </a:r>
          </a:p>
          <a:p>
            <a:r>
              <a:rPr lang="en-US" dirty="0"/>
              <a:t>Cultivate secondary influencers: Partner with micro-influencers or community advocates to diversify attention.</a:t>
            </a:r>
          </a:p>
          <a:p>
            <a:r>
              <a:rPr lang="en-US" dirty="0"/>
              <a:t>Encourage horizontal interaction: Promote discussions, polls, Q&amp;A threads, and customer stories.</a:t>
            </a:r>
          </a:p>
          <a:p>
            <a:r>
              <a:rPr lang="en-US" dirty="0"/>
              <a:t>Reduce dependence on contest tagging </a:t>
            </a:r>
            <a:r>
              <a:rPr lang="en-US" dirty="0" err="1"/>
              <a:t>accounts:Shift</a:t>
            </a:r>
            <a:r>
              <a:rPr lang="en-US" dirty="0"/>
              <a:t> focus toward genuine user-generated content.</a:t>
            </a:r>
          </a:p>
          <a:p>
            <a:r>
              <a:rPr lang="en-US" dirty="0"/>
              <a:t>Develop content optimized for shareability: Emotional, visually compelling, or story-driven posts increase retweet potential.</a:t>
            </a:r>
          </a:p>
          <a:p>
            <a:r>
              <a:rPr lang="en-US" dirty="0"/>
              <a:t>Establish consistency around posting: Maintain a steady rhythm to avoid sporadic spikes.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14354061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CAB8-6A54-44AA-DE25-30E4D34D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Work</a:t>
            </a:r>
            <a:endParaRPr lang="en-K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A153-C7AD-4C79-DC7F-F71756961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Expand analysis to LinkedIn or Instagram to compare cross-platform patterns.</a:t>
            </a:r>
          </a:p>
          <a:p>
            <a:r>
              <a:rPr lang="en-US" dirty="0"/>
              <a:t>Conduct predictive modeling to identify elements that drive virality.</a:t>
            </a:r>
          </a:p>
          <a:p>
            <a:r>
              <a:rPr lang="en-US" dirty="0"/>
              <a:t>Study sentiment patterns around topics that trigger the strongest engagement.</a:t>
            </a:r>
          </a:p>
          <a:p>
            <a:r>
              <a:rPr lang="en-US" dirty="0"/>
              <a:t>Consider longitudinal tracking to evaluate strategy changes over time.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9232049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84B760A2-E268-58B3-7CDA-FF6F32C1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73768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1045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Century Gothic</vt:lpstr>
      <vt:lpstr>Wingdings 3</vt:lpstr>
      <vt:lpstr>Ion</vt:lpstr>
      <vt:lpstr>Xoxoday com: Customer Engagement through Social Media </vt:lpstr>
      <vt:lpstr>Project Overview</vt:lpstr>
      <vt:lpstr>Research Motivation</vt:lpstr>
      <vt:lpstr>Literature Foundation</vt:lpstr>
      <vt:lpstr>Data Sources</vt:lpstr>
      <vt:lpstr>Data Cleaning &amp; Preparation</vt:lpstr>
      <vt:lpstr>Methodological Framework</vt:lpstr>
      <vt:lpstr>Mentions &amp; Replies Network Structure</vt:lpstr>
      <vt:lpstr>Retweet Network Structure</vt:lpstr>
      <vt:lpstr>Indegree Rankings (Mentions &amp; Replies)</vt:lpstr>
      <vt:lpstr>Outdegree Patterns (Who Sends Mentions?)</vt:lpstr>
      <vt:lpstr>Comparison of Top Indegree Nodes</vt:lpstr>
      <vt:lpstr>Tweet Frequency Over Time</vt:lpstr>
      <vt:lpstr>Retweet Weight Distribution</vt:lpstr>
      <vt:lpstr>Integrated Interpretation of Findings</vt:lpstr>
      <vt:lpstr>Strategic Recommendations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Ochieng</dc:creator>
  <cp:lastModifiedBy>SHIVA SHANKAR GUNDLA</cp:lastModifiedBy>
  <cp:revision>3</cp:revision>
  <dcterms:created xsi:type="dcterms:W3CDTF">2025-12-05T14:16:35Z</dcterms:created>
  <dcterms:modified xsi:type="dcterms:W3CDTF">2025-12-05T16:02:32Z</dcterms:modified>
</cp:coreProperties>
</file>